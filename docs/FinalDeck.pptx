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DM Serif Display" charset="1" panose="00000000000000000000"/>
      <p:regular r:id="rId19"/>
    </p:embeddedFont>
    <p:embeddedFont>
      <p:font typeface="Open Sauce" charset="1" panose="00000500000000000000"/>
      <p:regular r:id="rId20"/>
    </p:embeddedFont>
    <p:embeddedFont>
      <p:font typeface="Open Sauce Bold" charset="1" panose="00000800000000000000"/>
      <p:regular r:id="rId21"/>
    </p:embeddedFont>
    <p:embeddedFont>
      <p:font typeface="Fira Sans" charset="1" panose="020B0503050000020004"/>
      <p:regular r:id="rId22"/>
    </p:embeddedFont>
    <p:embeddedFont>
      <p:font typeface="Fira Sans Medium" charset="1" panose="020B060305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83146" y="8158480"/>
            <a:ext cx="13521708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Presented by: </a:t>
            </a: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Rian Cortez, Ryence Cortez, Ranz Cuarto, Mark Darius David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939383" y="2740984"/>
            <a:ext cx="14409233" cy="214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2"/>
              </a:lnSpc>
            </a:pPr>
            <a:r>
              <a:rPr lang="en-US" sz="620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 Multi-Component NL</a:t>
            </a:r>
            <a:r>
              <a:rPr lang="en-US" sz="620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 System for Fake News and Misinformation Detection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80543" y="5269495"/>
            <a:ext cx="992691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6INTEL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SY — INTELLIGENT SYSTEMS | 6DANCS — DATA ANALYTICS FOR COMPUTER SCIENCE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52344" y="9547209"/>
            <a:ext cx="718331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LY ANGEL UNIVERSITY —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HO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OL OF COMPUTING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04844" y="6274892"/>
            <a:ext cx="427831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2nd Semester AY 2025-2026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884598" y="4857029"/>
            <a:ext cx="3976377" cy="8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rmat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s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ster th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rec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892411" y="4935649"/>
            <a:ext cx="771371" cy="771371"/>
            <a:chOff x="0" y="0"/>
            <a:chExt cx="1028495" cy="102849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28495" cy="1028495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0989" y="146070"/>
              <a:ext cx="923453" cy="6531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40"/>
                </a:lnSpc>
              </a:pPr>
              <a:r>
                <a:rPr lang="en-US" b="true" sz="2712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884598" y="6625491"/>
            <a:ext cx="4099025" cy="8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Manual f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-ch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cki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ng c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nn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sc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to dail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 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content volume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892411" y="6654690"/>
            <a:ext cx="771371" cy="771371"/>
            <a:chOff x="0" y="0"/>
            <a:chExt cx="1028495" cy="102849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28495" cy="102849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1755" y="146070"/>
              <a:ext cx="923453" cy="6531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40"/>
                </a:lnSpc>
              </a:pPr>
              <a:r>
                <a:rPr lang="en-US" b="true" sz="2712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884598" y="8346952"/>
            <a:ext cx="4270732" cy="174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6"/>
              </a:lnSpc>
            </a:pPr>
            <a:r>
              <a:rPr lang="en-US" sz="22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Existi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ng classifier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suffe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 fro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poor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ca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lib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ration, viewpoint bi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as, a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lack 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of 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ns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204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rency</a:t>
            </a:r>
          </a:p>
          <a:p>
            <a:pPr algn="l" marL="0" indent="0" lvl="0">
              <a:lnSpc>
                <a:spcPts val="3526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892411" y="8483976"/>
            <a:ext cx="771371" cy="771371"/>
            <a:chOff x="0" y="0"/>
            <a:chExt cx="1028495" cy="102849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28495" cy="102849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0989" y="146070"/>
              <a:ext cx="923453" cy="6531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40"/>
                </a:lnSpc>
              </a:pPr>
              <a:r>
                <a:rPr lang="en-US" b="true" sz="2712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979505"/>
            <a:ext cx="6344759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Project Description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9881558" y="5386673"/>
            <a:ext cx="6514031" cy="85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Bu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ild a mo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dular,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transp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rent, a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fa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 misinformation detection sys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71604" y="4837979"/>
            <a:ext cx="1102784" cy="496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9"/>
              </a:lnSpc>
            </a:pPr>
            <a:r>
              <a:rPr lang="en-US" sz="264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</a:t>
            </a:r>
            <a:r>
              <a:rPr lang="en-US" b="true" sz="264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oa</a:t>
            </a:r>
            <a:r>
              <a:rPr lang="en-US" b="true" sz="264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71604" y="6656711"/>
            <a:ext cx="1363704" cy="496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9"/>
              </a:lnSpc>
            </a:pPr>
            <a:r>
              <a:rPr lang="en-US" sz="264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</a:t>
            </a:r>
            <a:r>
              <a:rPr lang="en-US" b="true" sz="264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ope:</a:t>
            </a:r>
            <a:r>
              <a:rPr lang="en-US" b="true" sz="264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81558" y="7229871"/>
            <a:ext cx="6514031" cy="85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19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Engl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ish-langua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short-form US political statements (LIAR be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nch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ark)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71604" y="8573830"/>
            <a:ext cx="3076698" cy="496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9"/>
              </a:lnSpc>
            </a:pPr>
            <a:r>
              <a:rPr lang="en-US" sz="264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Success metric</a:t>
            </a:r>
            <a:r>
              <a:rPr lang="en-US" b="true" sz="264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:</a:t>
            </a:r>
            <a:r>
              <a:rPr lang="en-US" b="true" sz="264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81558" y="9194539"/>
            <a:ext cx="6514031" cy="414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19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Macro</a:t>
            </a:r>
            <a:r>
              <a:rPr lang="en-US" sz="2195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-F1 on held-out test partition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0872" y="2270471"/>
            <a:ext cx="15007641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MULTI-COMPONENT NLP SYSTEM THAT CLASSIFIES POLITICAL STATEMENTS BY VERACITY USING DISTILBERT, TEXT-CNN, SPACY NER, AND A CONTEXTUAL BANDIT RL AGENT — BUILT ON THE LIAR BENCHMARK.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63782" y="3997714"/>
            <a:ext cx="3273227" cy="47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2"/>
              </a:lnSpc>
            </a:pPr>
            <a:r>
              <a:rPr lang="en-US" sz="283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 Statement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74388" y="3997714"/>
            <a:ext cx="3273227" cy="47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2"/>
              </a:lnSpc>
            </a:pPr>
            <a:r>
              <a:rPr lang="en-US" sz="283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Objectives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92620" y="3578321"/>
            <a:ext cx="5679979" cy="5679979"/>
            <a:chOff x="0" y="0"/>
            <a:chExt cx="4489857" cy="4489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0346" y="0"/>
                  </a:moveTo>
                  <a:lnTo>
                    <a:pt x="4469511" y="0"/>
                  </a:lnTo>
                  <a:cubicBezTo>
                    <a:pt x="4480748" y="0"/>
                    <a:pt x="4489857" y="9109"/>
                    <a:pt x="4489857" y="20346"/>
                  </a:cubicBezTo>
                  <a:lnTo>
                    <a:pt x="4489857" y="4469511"/>
                  </a:lnTo>
                  <a:cubicBezTo>
                    <a:pt x="4489857" y="4474907"/>
                    <a:pt x="4487714" y="4480082"/>
                    <a:pt x="4483898" y="4483898"/>
                  </a:cubicBezTo>
                  <a:cubicBezTo>
                    <a:pt x="4480082" y="4487714"/>
                    <a:pt x="4474907" y="4489857"/>
                    <a:pt x="4469511" y="4489857"/>
                  </a:cubicBezTo>
                  <a:lnTo>
                    <a:pt x="20346" y="4489857"/>
                  </a:lnTo>
                  <a:cubicBezTo>
                    <a:pt x="14950" y="4489857"/>
                    <a:pt x="9775" y="4487714"/>
                    <a:pt x="5959" y="4483898"/>
                  </a:cubicBezTo>
                  <a:cubicBezTo>
                    <a:pt x="2144" y="4480082"/>
                    <a:pt x="0" y="4474907"/>
                    <a:pt x="0" y="4469511"/>
                  </a:cubicBezTo>
                  <a:lnTo>
                    <a:pt x="0" y="20346"/>
                  </a:lnTo>
                  <a:cubicBezTo>
                    <a:pt x="0" y="14950"/>
                    <a:pt x="2144" y="9775"/>
                    <a:pt x="5959" y="5959"/>
                  </a:cubicBezTo>
                  <a:cubicBezTo>
                    <a:pt x="9775" y="2144"/>
                    <a:pt x="14950" y="0"/>
                    <a:pt x="20346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884702" y="3578321"/>
            <a:ext cx="5679979" cy="5679979"/>
            <a:chOff x="0" y="0"/>
            <a:chExt cx="4489857" cy="44898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0346" y="0"/>
                  </a:moveTo>
                  <a:lnTo>
                    <a:pt x="4469511" y="0"/>
                  </a:lnTo>
                  <a:cubicBezTo>
                    <a:pt x="4480748" y="0"/>
                    <a:pt x="4489857" y="9109"/>
                    <a:pt x="4489857" y="20346"/>
                  </a:cubicBezTo>
                  <a:lnTo>
                    <a:pt x="4489857" y="4469511"/>
                  </a:lnTo>
                  <a:cubicBezTo>
                    <a:pt x="4489857" y="4474907"/>
                    <a:pt x="4487714" y="4480082"/>
                    <a:pt x="4483898" y="4483898"/>
                  </a:cubicBezTo>
                  <a:cubicBezTo>
                    <a:pt x="4480082" y="4487714"/>
                    <a:pt x="4474907" y="4489857"/>
                    <a:pt x="4469511" y="4489857"/>
                  </a:cubicBezTo>
                  <a:lnTo>
                    <a:pt x="20346" y="4489857"/>
                  </a:lnTo>
                  <a:cubicBezTo>
                    <a:pt x="14950" y="4489857"/>
                    <a:pt x="9775" y="4487714"/>
                    <a:pt x="5959" y="4483898"/>
                  </a:cubicBezTo>
                  <a:cubicBezTo>
                    <a:pt x="2144" y="4480082"/>
                    <a:pt x="0" y="4474907"/>
                    <a:pt x="0" y="4469511"/>
                  </a:cubicBezTo>
                  <a:lnTo>
                    <a:pt x="0" y="20346"/>
                  </a:lnTo>
                  <a:cubicBezTo>
                    <a:pt x="0" y="14950"/>
                    <a:pt x="2144" y="9775"/>
                    <a:pt x="5959" y="5959"/>
                  </a:cubicBezTo>
                  <a:cubicBezTo>
                    <a:pt x="9775" y="2144"/>
                    <a:pt x="14950" y="0"/>
                    <a:pt x="20346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12491" y="3406110"/>
            <a:ext cx="5679979" cy="5679979"/>
            <a:chOff x="0" y="0"/>
            <a:chExt cx="4489857" cy="44898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0346" y="0"/>
                  </a:moveTo>
                  <a:lnTo>
                    <a:pt x="4469511" y="0"/>
                  </a:lnTo>
                  <a:cubicBezTo>
                    <a:pt x="4480748" y="0"/>
                    <a:pt x="4489857" y="9109"/>
                    <a:pt x="4489857" y="20346"/>
                  </a:cubicBezTo>
                  <a:lnTo>
                    <a:pt x="4489857" y="4469511"/>
                  </a:lnTo>
                  <a:cubicBezTo>
                    <a:pt x="4489857" y="4474907"/>
                    <a:pt x="4487714" y="4480082"/>
                    <a:pt x="4483898" y="4483898"/>
                  </a:cubicBezTo>
                  <a:cubicBezTo>
                    <a:pt x="4480082" y="4487714"/>
                    <a:pt x="4474907" y="4489857"/>
                    <a:pt x="4469511" y="4489857"/>
                  </a:cubicBezTo>
                  <a:lnTo>
                    <a:pt x="20346" y="4489857"/>
                  </a:lnTo>
                  <a:cubicBezTo>
                    <a:pt x="14950" y="4489857"/>
                    <a:pt x="9775" y="4487714"/>
                    <a:pt x="5959" y="4483898"/>
                  </a:cubicBezTo>
                  <a:cubicBezTo>
                    <a:pt x="2144" y="4480082"/>
                    <a:pt x="0" y="4474907"/>
                    <a:pt x="0" y="4469511"/>
                  </a:cubicBezTo>
                  <a:lnTo>
                    <a:pt x="0" y="20346"/>
                  </a:lnTo>
                  <a:cubicBezTo>
                    <a:pt x="0" y="14950"/>
                    <a:pt x="2144" y="9775"/>
                    <a:pt x="5959" y="5959"/>
                  </a:cubicBezTo>
                  <a:cubicBezTo>
                    <a:pt x="9775" y="2144"/>
                    <a:pt x="14950" y="0"/>
                    <a:pt x="20346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Dataset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346007" y="3406110"/>
            <a:ext cx="5679979" cy="5679979"/>
            <a:chOff x="0" y="0"/>
            <a:chExt cx="4489857" cy="44898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0346" y="0"/>
                  </a:moveTo>
                  <a:lnTo>
                    <a:pt x="4469511" y="0"/>
                  </a:lnTo>
                  <a:cubicBezTo>
                    <a:pt x="4480748" y="0"/>
                    <a:pt x="4489857" y="9109"/>
                    <a:pt x="4489857" y="20346"/>
                  </a:cubicBezTo>
                  <a:lnTo>
                    <a:pt x="4489857" y="4469511"/>
                  </a:lnTo>
                  <a:cubicBezTo>
                    <a:pt x="4489857" y="4474907"/>
                    <a:pt x="4487714" y="4480082"/>
                    <a:pt x="4483898" y="4483898"/>
                  </a:cubicBezTo>
                  <a:cubicBezTo>
                    <a:pt x="4480082" y="4487714"/>
                    <a:pt x="4474907" y="4489857"/>
                    <a:pt x="4469511" y="4489857"/>
                  </a:cubicBezTo>
                  <a:lnTo>
                    <a:pt x="20346" y="4489857"/>
                  </a:lnTo>
                  <a:cubicBezTo>
                    <a:pt x="14950" y="4489857"/>
                    <a:pt x="9775" y="4487714"/>
                    <a:pt x="5959" y="4483898"/>
                  </a:cubicBezTo>
                  <a:cubicBezTo>
                    <a:pt x="2144" y="4480082"/>
                    <a:pt x="0" y="4474907"/>
                    <a:pt x="0" y="4469511"/>
                  </a:cubicBezTo>
                  <a:lnTo>
                    <a:pt x="0" y="20346"/>
                  </a:lnTo>
                  <a:cubicBezTo>
                    <a:pt x="0" y="14950"/>
                    <a:pt x="2144" y="9775"/>
                    <a:pt x="5959" y="5959"/>
                  </a:cubicBezTo>
                  <a:cubicBezTo>
                    <a:pt x="9775" y="2144"/>
                    <a:pt x="14950" y="0"/>
                    <a:pt x="20346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492620" y="3839493"/>
            <a:ext cx="5081139" cy="1114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528" indent="-303764" lvl="1">
              <a:lnSpc>
                <a:spcPts val="4502"/>
              </a:lnSpc>
              <a:buFont typeface="Arial"/>
              <a:buChar char="•"/>
            </a:pPr>
            <a:r>
              <a:rPr lang="en-US" sz="28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LIAR</a:t>
            </a:r>
            <a:r>
              <a:rPr lang="en-US" sz="2813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Ben</a:t>
            </a:r>
            <a:r>
              <a:rPr lang="en-US" sz="2813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</a:t>
            </a:r>
            <a:r>
              <a:rPr lang="en-US" sz="2813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mark</a:t>
            </a:r>
            <a:r>
              <a:rPr lang="en-US" sz="2813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(Wa</a:t>
            </a:r>
            <a:r>
              <a:rPr lang="en-US" sz="2813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ng, 2017)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92620" y="5076397"/>
            <a:ext cx="5386751" cy="164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109" indent="-303554" lvl="1">
              <a:lnSpc>
                <a:spcPts val="4499"/>
              </a:lnSpc>
              <a:buFont typeface="Arial"/>
              <a:buChar char="•"/>
            </a:pPr>
            <a:r>
              <a:rPr lang="en-US" sz="28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12,836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sh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rt 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politic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 stateme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nts from PolitiFact.com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92620" y="6923391"/>
            <a:ext cx="5386751" cy="220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109" indent="-303554" lvl="1">
              <a:lnSpc>
                <a:spcPts val="4499"/>
              </a:lnSpc>
              <a:buFont typeface="Arial"/>
              <a:buChar char="•"/>
            </a:pPr>
            <a:r>
              <a:rPr lang="en-US" sz="28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veracity classes: p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s-f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re, f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alse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bar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ly-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true, half-true, mostly-true, true</a:t>
            </a: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884702" y="3839493"/>
            <a:ext cx="6057291" cy="1114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528" indent="-303764" lvl="1">
              <a:lnSpc>
                <a:spcPts val="4502"/>
              </a:lnSpc>
              <a:buFont typeface="Arial"/>
              <a:buChar char="•"/>
            </a:pPr>
            <a:r>
              <a:rPr lang="en-US" sz="28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Pre-defined</a:t>
            </a:r>
            <a:r>
              <a:rPr lang="en-US" sz="2813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train/valid/test splits — no leakage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69868" y="5350858"/>
            <a:ext cx="5386751" cy="164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109" indent="-303554" lvl="1">
              <a:lnSpc>
                <a:spcPts val="4499"/>
              </a:lnSpc>
              <a:buFont typeface="Arial"/>
              <a:buChar char="•"/>
            </a:pPr>
            <a:r>
              <a:rPr lang="en-US" sz="28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Rich metadata: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speaker, party, jo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 t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itl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e,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state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context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84702" y="6923391"/>
            <a:ext cx="5386751" cy="220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109" indent="-303554" lvl="1">
              <a:lnSpc>
                <a:spcPts val="4499"/>
              </a:lnSpc>
              <a:buFont typeface="Arial"/>
              <a:buChar char="•"/>
            </a:pPr>
            <a:r>
              <a:rPr lang="en-US" sz="281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ey finding: Republican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(4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497)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81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Democrat (3,336) speaker imbalance</a:t>
            </a:r>
          </a:p>
          <a:p>
            <a:pPr algn="l">
              <a:lnSpc>
                <a:spcPts val="44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858673" y="168720"/>
            <a:ext cx="9026191" cy="4489273"/>
            <a:chOff x="0" y="0"/>
            <a:chExt cx="9258985" cy="46050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58984" cy="4605055"/>
            </a:xfrm>
            <a:custGeom>
              <a:avLst/>
              <a:gdLst/>
              <a:ahLst/>
              <a:cxnLst/>
              <a:rect r="r" b="b" t="t" l="l"/>
              <a:pathLst>
                <a:path h="4605055" w="9258984">
                  <a:moveTo>
                    <a:pt x="12803" y="0"/>
                  </a:moveTo>
                  <a:lnTo>
                    <a:pt x="9246181" y="0"/>
                  </a:lnTo>
                  <a:cubicBezTo>
                    <a:pt x="9253252" y="0"/>
                    <a:pt x="9258984" y="5732"/>
                    <a:pt x="9258984" y="12803"/>
                  </a:cubicBezTo>
                  <a:lnTo>
                    <a:pt x="9258984" y="4592252"/>
                  </a:lnTo>
                  <a:cubicBezTo>
                    <a:pt x="9258984" y="4595648"/>
                    <a:pt x="9257636" y="4598904"/>
                    <a:pt x="9255234" y="4601305"/>
                  </a:cubicBezTo>
                  <a:cubicBezTo>
                    <a:pt x="9252834" y="4603707"/>
                    <a:pt x="9249577" y="4605055"/>
                    <a:pt x="9246181" y="4605055"/>
                  </a:cubicBezTo>
                  <a:lnTo>
                    <a:pt x="12803" y="4605055"/>
                  </a:lnTo>
                  <a:cubicBezTo>
                    <a:pt x="9408" y="4605055"/>
                    <a:pt x="6151" y="4603707"/>
                    <a:pt x="3750" y="4601305"/>
                  </a:cubicBezTo>
                  <a:cubicBezTo>
                    <a:pt x="1349" y="4598904"/>
                    <a:pt x="0" y="4595648"/>
                    <a:pt x="0" y="4592252"/>
                  </a:cubicBezTo>
                  <a:lnTo>
                    <a:pt x="0" y="12803"/>
                  </a:lnTo>
                  <a:cubicBezTo>
                    <a:pt x="0" y="9408"/>
                    <a:pt x="1349" y="6151"/>
                    <a:pt x="3750" y="3750"/>
                  </a:cubicBezTo>
                  <a:cubicBezTo>
                    <a:pt x="6151" y="1349"/>
                    <a:pt x="9408" y="0"/>
                    <a:pt x="12803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58985" cy="4652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30018" y="411802"/>
            <a:ext cx="8999245" cy="4489273"/>
            <a:chOff x="0" y="0"/>
            <a:chExt cx="9231344" cy="46050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31344" cy="4605055"/>
            </a:xfrm>
            <a:custGeom>
              <a:avLst/>
              <a:gdLst/>
              <a:ahLst/>
              <a:cxnLst/>
              <a:rect r="r" b="b" t="t" l="l"/>
              <a:pathLst>
                <a:path h="4605055" w="9231344">
                  <a:moveTo>
                    <a:pt x="12842" y="0"/>
                  </a:moveTo>
                  <a:lnTo>
                    <a:pt x="9218502" y="0"/>
                  </a:lnTo>
                  <a:cubicBezTo>
                    <a:pt x="9221908" y="0"/>
                    <a:pt x="9225174" y="1353"/>
                    <a:pt x="9227582" y="3761"/>
                  </a:cubicBezTo>
                  <a:cubicBezTo>
                    <a:pt x="9229991" y="6169"/>
                    <a:pt x="9231344" y="9436"/>
                    <a:pt x="9231344" y="12842"/>
                  </a:cubicBezTo>
                  <a:lnTo>
                    <a:pt x="9231344" y="4592214"/>
                  </a:lnTo>
                  <a:cubicBezTo>
                    <a:pt x="9231344" y="4595619"/>
                    <a:pt x="9229991" y="4598886"/>
                    <a:pt x="9227582" y="4601294"/>
                  </a:cubicBezTo>
                  <a:cubicBezTo>
                    <a:pt x="9225174" y="4603702"/>
                    <a:pt x="9221908" y="4605055"/>
                    <a:pt x="9218502" y="4605055"/>
                  </a:cubicBezTo>
                  <a:lnTo>
                    <a:pt x="12842" y="4605055"/>
                  </a:lnTo>
                  <a:cubicBezTo>
                    <a:pt x="9436" y="4605055"/>
                    <a:pt x="6169" y="4603702"/>
                    <a:pt x="3761" y="4601294"/>
                  </a:cubicBezTo>
                  <a:cubicBezTo>
                    <a:pt x="1353" y="4598886"/>
                    <a:pt x="0" y="4595619"/>
                    <a:pt x="0" y="4592214"/>
                  </a:cubicBezTo>
                  <a:lnTo>
                    <a:pt x="0" y="12842"/>
                  </a:lnTo>
                  <a:cubicBezTo>
                    <a:pt x="0" y="9436"/>
                    <a:pt x="1353" y="6169"/>
                    <a:pt x="3761" y="3761"/>
                  </a:cubicBezTo>
                  <a:cubicBezTo>
                    <a:pt x="6169" y="1353"/>
                    <a:pt x="9436" y="0"/>
                    <a:pt x="1284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231344" cy="4652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172673" y="660312"/>
            <a:ext cx="8569536" cy="3749172"/>
          </a:xfrm>
          <a:custGeom>
            <a:avLst/>
            <a:gdLst/>
            <a:ahLst/>
            <a:cxnLst/>
            <a:rect r="r" b="b" t="t" l="l"/>
            <a:pathLst>
              <a:path h="3749172" w="8569536">
                <a:moveTo>
                  <a:pt x="0" y="0"/>
                </a:moveTo>
                <a:lnTo>
                  <a:pt x="8569536" y="0"/>
                </a:lnTo>
                <a:lnTo>
                  <a:pt x="8569536" y="3749172"/>
                </a:lnTo>
                <a:lnTo>
                  <a:pt x="0" y="3749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9043" y="2509540"/>
            <a:ext cx="7681844" cy="690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272" indent="-266636" lvl="1">
              <a:lnSpc>
                <a:spcPts val="3951"/>
              </a:lnSpc>
              <a:buFont typeface="Arial"/>
              <a:buChar char="•"/>
            </a:pPr>
            <a:r>
              <a:rPr lang="en-US" sz="24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Raw data: TSV files with 14 columns per statement</a:t>
            </a:r>
          </a:p>
          <a:p>
            <a:pPr algn="l" marL="533272" indent="-266636" lvl="1">
              <a:lnSpc>
                <a:spcPts val="3951"/>
              </a:lnSpc>
              <a:buFont typeface="Arial"/>
              <a:buChar char="•"/>
            </a:pPr>
            <a:r>
              <a:rPr lang="en-US" sz="24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Text cleaning: Unicode normalization, HTML artifact removal, whitespace stripping</a:t>
            </a:r>
          </a:p>
          <a:p>
            <a:pPr algn="l" marL="533272" indent="-266636" lvl="1">
              <a:lnSpc>
                <a:spcPts val="3951"/>
              </a:lnSpc>
              <a:buFont typeface="Arial"/>
              <a:buChar char="•"/>
            </a:pPr>
            <a:r>
              <a:rPr lang="en-US" sz="24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Text-CNN</a:t>
            </a:r>
            <a:r>
              <a:rPr lang="en-US" sz="246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branch: lowercased → word-level tokenization → GloVe 300d embedding initialization</a:t>
            </a:r>
          </a:p>
          <a:p>
            <a:pPr algn="l" marL="533272" indent="-266636" lvl="1">
              <a:lnSpc>
                <a:spcPts val="3951"/>
              </a:lnSpc>
              <a:buFont typeface="Arial"/>
              <a:buChar char="•"/>
            </a:pPr>
            <a:r>
              <a:rPr lang="en-US" sz="246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DistilBERT branch: HuggingFace subword tokenizer → max 128 tokens → attention mask generation</a:t>
            </a:r>
          </a:p>
          <a:p>
            <a:pPr algn="l" marL="533272" indent="-266636" lvl="1">
              <a:lnSpc>
                <a:spcPts val="3951"/>
              </a:lnSpc>
              <a:buFont typeface="Arial"/>
              <a:buChar char="•"/>
            </a:pPr>
            <a:r>
              <a:rPr lang="en-US" sz="246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Label mapping: pants-fire=0, false=1, barely-true=2, half-true=3, mostly-true=4, true=5</a:t>
            </a:r>
          </a:p>
          <a:p>
            <a:pPr algn="l" marL="533272" indent="-266636" lvl="1">
              <a:lnSpc>
                <a:spcPts val="3951"/>
              </a:lnSpc>
              <a:buFont typeface="Arial"/>
              <a:buChar char="•"/>
            </a:pPr>
            <a:r>
              <a:rPr lang="en-US" sz="246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Pre-defined splits used as-is — no re-splitting to prevent leakage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6399" y="1233825"/>
            <a:ext cx="1468897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Preparation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44346" y="5385925"/>
            <a:ext cx="9026191" cy="4489273"/>
            <a:chOff x="0" y="0"/>
            <a:chExt cx="9258985" cy="46050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58984" cy="4605055"/>
            </a:xfrm>
            <a:custGeom>
              <a:avLst/>
              <a:gdLst/>
              <a:ahLst/>
              <a:cxnLst/>
              <a:rect r="r" b="b" t="t" l="l"/>
              <a:pathLst>
                <a:path h="4605055" w="9258984">
                  <a:moveTo>
                    <a:pt x="12803" y="0"/>
                  </a:moveTo>
                  <a:lnTo>
                    <a:pt x="9246181" y="0"/>
                  </a:lnTo>
                  <a:cubicBezTo>
                    <a:pt x="9253252" y="0"/>
                    <a:pt x="9258984" y="5732"/>
                    <a:pt x="9258984" y="12803"/>
                  </a:cubicBezTo>
                  <a:lnTo>
                    <a:pt x="9258984" y="4592252"/>
                  </a:lnTo>
                  <a:cubicBezTo>
                    <a:pt x="9258984" y="4595648"/>
                    <a:pt x="9257636" y="4598904"/>
                    <a:pt x="9255234" y="4601305"/>
                  </a:cubicBezTo>
                  <a:cubicBezTo>
                    <a:pt x="9252834" y="4603707"/>
                    <a:pt x="9249577" y="4605055"/>
                    <a:pt x="9246181" y="4605055"/>
                  </a:cubicBezTo>
                  <a:lnTo>
                    <a:pt x="12803" y="4605055"/>
                  </a:lnTo>
                  <a:cubicBezTo>
                    <a:pt x="9408" y="4605055"/>
                    <a:pt x="6151" y="4603707"/>
                    <a:pt x="3750" y="4601305"/>
                  </a:cubicBezTo>
                  <a:cubicBezTo>
                    <a:pt x="1349" y="4598904"/>
                    <a:pt x="0" y="4595648"/>
                    <a:pt x="0" y="4592252"/>
                  </a:cubicBezTo>
                  <a:lnTo>
                    <a:pt x="0" y="12803"/>
                  </a:lnTo>
                  <a:cubicBezTo>
                    <a:pt x="0" y="9408"/>
                    <a:pt x="1349" y="6151"/>
                    <a:pt x="3750" y="3750"/>
                  </a:cubicBezTo>
                  <a:cubicBezTo>
                    <a:pt x="6151" y="1349"/>
                    <a:pt x="9408" y="0"/>
                    <a:pt x="12803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258985" cy="4652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15691" y="5629007"/>
            <a:ext cx="8999245" cy="4489273"/>
            <a:chOff x="0" y="0"/>
            <a:chExt cx="9231344" cy="46050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31344" cy="4605055"/>
            </a:xfrm>
            <a:custGeom>
              <a:avLst/>
              <a:gdLst/>
              <a:ahLst/>
              <a:cxnLst/>
              <a:rect r="r" b="b" t="t" l="l"/>
              <a:pathLst>
                <a:path h="4605055" w="9231344">
                  <a:moveTo>
                    <a:pt x="12842" y="0"/>
                  </a:moveTo>
                  <a:lnTo>
                    <a:pt x="9218502" y="0"/>
                  </a:lnTo>
                  <a:cubicBezTo>
                    <a:pt x="9221908" y="0"/>
                    <a:pt x="9225174" y="1353"/>
                    <a:pt x="9227582" y="3761"/>
                  </a:cubicBezTo>
                  <a:cubicBezTo>
                    <a:pt x="9229991" y="6169"/>
                    <a:pt x="9231344" y="9436"/>
                    <a:pt x="9231344" y="12842"/>
                  </a:cubicBezTo>
                  <a:lnTo>
                    <a:pt x="9231344" y="4592214"/>
                  </a:lnTo>
                  <a:cubicBezTo>
                    <a:pt x="9231344" y="4595619"/>
                    <a:pt x="9229991" y="4598886"/>
                    <a:pt x="9227582" y="4601294"/>
                  </a:cubicBezTo>
                  <a:cubicBezTo>
                    <a:pt x="9225174" y="4603702"/>
                    <a:pt x="9221908" y="4605055"/>
                    <a:pt x="9218502" y="4605055"/>
                  </a:cubicBezTo>
                  <a:lnTo>
                    <a:pt x="12842" y="4605055"/>
                  </a:lnTo>
                  <a:cubicBezTo>
                    <a:pt x="9436" y="4605055"/>
                    <a:pt x="6169" y="4603702"/>
                    <a:pt x="3761" y="4601294"/>
                  </a:cubicBezTo>
                  <a:cubicBezTo>
                    <a:pt x="1353" y="4598886"/>
                    <a:pt x="0" y="4595619"/>
                    <a:pt x="0" y="4592214"/>
                  </a:cubicBezTo>
                  <a:lnTo>
                    <a:pt x="0" y="12842"/>
                  </a:lnTo>
                  <a:cubicBezTo>
                    <a:pt x="0" y="9436"/>
                    <a:pt x="1353" y="6169"/>
                    <a:pt x="3761" y="3761"/>
                  </a:cubicBezTo>
                  <a:cubicBezTo>
                    <a:pt x="6169" y="1353"/>
                    <a:pt x="9436" y="0"/>
                    <a:pt x="1284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231344" cy="4652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244873" y="5755976"/>
            <a:ext cx="8569536" cy="3749172"/>
          </a:xfrm>
          <a:custGeom>
            <a:avLst/>
            <a:gdLst/>
            <a:ahLst/>
            <a:cxnLst/>
            <a:rect r="r" b="b" t="t" l="l"/>
            <a:pathLst>
              <a:path h="3749172" w="8569536">
                <a:moveTo>
                  <a:pt x="0" y="0"/>
                </a:moveTo>
                <a:lnTo>
                  <a:pt x="8569535" y="0"/>
                </a:lnTo>
                <a:lnTo>
                  <a:pt x="8569535" y="3749172"/>
                </a:lnTo>
                <a:lnTo>
                  <a:pt x="0" y="3749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20" t="0" r="-102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439303" y="5868271"/>
            <a:ext cx="7446721" cy="3703706"/>
            <a:chOff x="0" y="0"/>
            <a:chExt cx="9258985" cy="46050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58984" cy="4605055"/>
            </a:xfrm>
            <a:custGeom>
              <a:avLst/>
              <a:gdLst/>
              <a:ahLst/>
              <a:cxnLst/>
              <a:rect r="r" b="b" t="t" l="l"/>
              <a:pathLst>
                <a:path h="4605055" w="9258984">
                  <a:moveTo>
                    <a:pt x="15519" y="0"/>
                  </a:moveTo>
                  <a:lnTo>
                    <a:pt x="9243465" y="0"/>
                  </a:lnTo>
                  <a:cubicBezTo>
                    <a:pt x="9252036" y="0"/>
                    <a:pt x="9258984" y="6948"/>
                    <a:pt x="9258984" y="15519"/>
                  </a:cubicBezTo>
                  <a:lnTo>
                    <a:pt x="9258984" y="4589537"/>
                  </a:lnTo>
                  <a:cubicBezTo>
                    <a:pt x="9258984" y="4598107"/>
                    <a:pt x="9252036" y="4605055"/>
                    <a:pt x="9243465" y="4605055"/>
                  </a:cubicBezTo>
                  <a:lnTo>
                    <a:pt x="15519" y="4605055"/>
                  </a:lnTo>
                  <a:cubicBezTo>
                    <a:pt x="6948" y="4605055"/>
                    <a:pt x="0" y="4598107"/>
                    <a:pt x="0" y="4589537"/>
                  </a:cubicBezTo>
                  <a:lnTo>
                    <a:pt x="0" y="15519"/>
                  </a:lnTo>
                  <a:cubicBezTo>
                    <a:pt x="0" y="6948"/>
                    <a:pt x="6948" y="0"/>
                    <a:pt x="15519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58985" cy="4652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580665" y="6068816"/>
            <a:ext cx="7424490" cy="3703706"/>
            <a:chOff x="0" y="0"/>
            <a:chExt cx="9231344" cy="46050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31344" cy="4605055"/>
            </a:xfrm>
            <a:custGeom>
              <a:avLst/>
              <a:gdLst/>
              <a:ahLst/>
              <a:cxnLst/>
              <a:rect r="r" b="b" t="t" l="l"/>
              <a:pathLst>
                <a:path h="4605055" w="9231344">
                  <a:moveTo>
                    <a:pt x="15565" y="0"/>
                  </a:moveTo>
                  <a:lnTo>
                    <a:pt x="9215778" y="0"/>
                  </a:lnTo>
                  <a:cubicBezTo>
                    <a:pt x="9219906" y="0"/>
                    <a:pt x="9223866" y="1640"/>
                    <a:pt x="9226785" y="4559"/>
                  </a:cubicBezTo>
                  <a:cubicBezTo>
                    <a:pt x="9229703" y="7478"/>
                    <a:pt x="9231344" y="11437"/>
                    <a:pt x="9231344" y="15565"/>
                  </a:cubicBezTo>
                  <a:lnTo>
                    <a:pt x="9231344" y="4589490"/>
                  </a:lnTo>
                  <a:cubicBezTo>
                    <a:pt x="9231344" y="4593618"/>
                    <a:pt x="9229703" y="4597577"/>
                    <a:pt x="9226785" y="4600496"/>
                  </a:cubicBezTo>
                  <a:cubicBezTo>
                    <a:pt x="9223866" y="4603416"/>
                    <a:pt x="9219906" y="4605055"/>
                    <a:pt x="9215778" y="4605055"/>
                  </a:cubicBezTo>
                  <a:lnTo>
                    <a:pt x="15565" y="4605055"/>
                  </a:lnTo>
                  <a:cubicBezTo>
                    <a:pt x="11437" y="4605055"/>
                    <a:pt x="7478" y="4603416"/>
                    <a:pt x="4559" y="4600496"/>
                  </a:cubicBezTo>
                  <a:cubicBezTo>
                    <a:pt x="1640" y="4597577"/>
                    <a:pt x="0" y="4593618"/>
                    <a:pt x="0" y="4589490"/>
                  </a:cubicBezTo>
                  <a:lnTo>
                    <a:pt x="0" y="15565"/>
                  </a:lnTo>
                  <a:cubicBezTo>
                    <a:pt x="0" y="11437"/>
                    <a:pt x="1640" y="7478"/>
                    <a:pt x="4559" y="4559"/>
                  </a:cubicBezTo>
                  <a:cubicBezTo>
                    <a:pt x="7478" y="1640"/>
                    <a:pt x="11437" y="0"/>
                    <a:pt x="15565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231344" cy="4652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018065" y="6188707"/>
            <a:ext cx="6549690" cy="3274845"/>
          </a:xfrm>
          <a:custGeom>
            <a:avLst/>
            <a:gdLst/>
            <a:ahLst/>
            <a:cxnLst/>
            <a:rect r="r" b="b" t="t" l="l"/>
            <a:pathLst>
              <a:path h="3274845" w="6549690">
                <a:moveTo>
                  <a:pt x="0" y="0"/>
                </a:moveTo>
                <a:lnTo>
                  <a:pt x="6549690" y="0"/>
                </a:lnTo>
                <a:lnTo>
                  <a:pt x="6549690" y="3274845"/>
                </a:lnTo>
                <a:lnTo>
                  <a:pt x="0" y="3274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2774567"/>
            <a:ext cx="6139471" cy="640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2957" indent="-266478" lvl="1">
              <a:lnSpc>
                <a:spcPts val="3949"/>
              </a:lnSpc>
              <a:buFont typeface="Arial"/>
              <a:buChar char="•"/>
            </a:pPr>
            <a:r>
              <a:rPr lang="en-US" sz="24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Average</a:t>
            </a: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statement length</a:t>
            </a: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18 wo</a:t>
            </a: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rds (</a:t>
            </a: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 467</a:t>
            </a: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min 2)</a:t>
            </a:r>
          </a:p>
          <a:p>
            <a:pPr algn="l" marL="532957" indent="-266478" lvl="1">
              <a:lnSpc>
                <a:spcPts val="3949"/>
              </a:lnSpc>
              <a:buFont typeface="Arial"/>
              <a:buChar char="•"/>
            </a:pP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pants-fire: ~8% across all splits — rarest and hardest class</a:t>
            </a:r>
          </a:p>
          <a:p>
            <a:pPr algn="l" marL="532957" indent="-266478" lvl="1">
              <a:lnSpc>
                <a:spcPts val="3949"/>
              </a:lnSpc>
              <a:buFont typeface="Arial"/>
              <a:buChar char="•"/>
            </a:pP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Most mentioned speaker: Barack Obama (488 appearances)</a:t>
            </a:r>
          </a:p>
          <a:p>
            <a:pPr algn="l" marL="532957" indent="-266478" lvl="1">
              <a:lnSpc>
                <a:spcPts val="3949"/>
              </a:lnSpc>
              <a:buFont typeface="Arial"/>
              <a:buChar char="•"/>
            </a:pP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Most mentioned location: Texas (52 appearances)</a:t>
            </a:r>
          </a:p>
          <a:p>
            <a:pPr algn="l" marL="532957" indent="-266478" lvl="1">
              <a:lnSpc>
                <a:spcPts val="3949"/>
              </a:lnSpc>
              <a:buFont typeface="Arial"/>
              <a:buChar char="•"/>
            </a:pP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Most mentioned organization: Medicare and Congress</a:t>
            </a:r>
          </a:p>
          <a:p>
            <a:pPr algn="l" marL="532957" indent="-266478" lvl="1">
              <a:lnSpc>
                <a:spcPts val="3949"/>
              </a:lnSpc>
              <a:buFont typeface="Arial"/>
              <a:buChar char="•"/>
            </a:pPr>
            <a:r>
              <a:rPr lang="en-US" sz="2468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Republican (4,497) vs Democrat (3,336) — speaker imbalance confirmed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6399" y="1233825"/>
            <a:ext cx="1468897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Descriptive Analysis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641478" y="2435279"/>
            <a:ext cx="10200491" cy="2995649"/>
            <a:chOff x="0" y="0"/>
            <a:chExt cx="12537275" cy="36819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37275" cy="3681908"/>
            </a:xfrm>
            <a:custGeom>
              <a:avLst/>
              <a:gdLst/>
              <a:ahLst/>
              <a:cxnLst/>
              <a:rect r="r" b="b" t="t" l="l"/>
              <a:pathLst>
                <a:path h="3681908" w="12537275">
                  <a:moveTo>
                    <a:pt x="11329" y="0"/>
                  </a:moveTo>
                  <a:lnTo>
                    <a:pt x="12525946" y="0"/>
                  </a:lnTo>
                  <a:cubicBezTo>
                    <a:pt x="12528951" y="0"/>
                    <a:pt x="12531832" y="1194"/>
                    <a:pt x="12533957" y="3318"/>
                  </a:cubicBezTo>
                  <a:cubicBezTo>
                    <a:pt x="12536081" y="5443"/>
                    <a:pt x="12537275" y="8325"/>
                    <a:pt x="12537275" y="11329"/>
                  </a:cubicBezTo>
                  <a:lnTo>
                    <a:pt x="12537275" y="3670579"/>
                  </a:lnTo>
                  <a:cubicBezTo>
                    <a:pt x="12537275" y="3673584"/>
                    <a:pt x="12536081" y="3676465"/>
                    <a:pt x="12533957" y="3678590"/>
                  </a:cubicBezTo>
                  <a:cubicBezTo>
                    <a:pt x="12531832" y="3680714"/>
                    <a:pt x="12528951" y="3681908"/>
                    <a:pt x="12525946" y="3681908"/>
                  </a:cubicBezTo>
                  <a:lnTo>
                    <a:pt x="11329" y="3681908"/>
                  </a:lnTo>
                  <a:cubicBezTo>
                    <a:pt x="8325" y="3681908"/>
                    <a:pt x="5443" y="3680714"/>
                    <a:pt x="3318" y="3678590"/>
                  </a:cubicBezTo>
                  <a:cubicBezTo>
                    <a:pt x="1194" y="3676465"/>
                    <a:pt x="0" y="3673584"/>
                    <a:pt x="0" y="3670579"/>
                  </a:cubicBezTo>
                  <a:lnTo>
                    <a:pt x="0" y="11329"/>
                  </a:lnTo>
                  <a:cubicBezTo>
                    <a:pt x="0" y="8325"/>
                    <a:pt x="1194" y="5443"/>
                    <a:pt x="3318" y="3318"/>
                  </a:cubicBezTo>
                  <a:cubicBezTo>
                    <a:pt x="5443" y="1194"/>
                    <a:pt x="8325" y="0"/>
                    <a:pt x="11329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537275" cy="3729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35115" y="2597485"/>
            <a:ext cx="10170039" cy="2995649"/>
            <a:chOff x="0" y="0"/>
            <a:chExt cx="12499847" cy="36819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99847" cy="3681908"/>
            </a:xfrm>
            <a:custGeom>
              <a:avLst/>
              <a:gdLst/>
              <a:ahLst/>
              <a:cxnLst/>
              <a:rect r="r" b="b" t="t" l="l"/>
              <a:pathLst>
                <a:path h="3681908" w="12499847">
                  <a:moveTo>
                    <a:pt x="11363" y="0"/>
                  </a:moveTo>
                  <a:lnTo>
                    <a:pt x="12488484" y="0"/>
                  </a:lnTo>
                  <a:cubicBezTo>
                    <a:pt x="12494760" y="0"/>
                    <a:pt x="12499847" y="5088"/>
                    <a:pt x="12499847" y="11363"/>
                  </a:cubicBezTo>
                  <a:lnTo>
                    <a:pt x="12499847" y="3670545"/>
                  </a:lnTo>
                  <a:cubicBezTo>
                    <a:pt x="12499847" y="3676821"/>
                    <a:pt x="12494760" y="3681908"/>
                    <a:pt x="12488484" y="3681908"/>
                  </a:cubicBezTo>
                  <a:lnTo>
                    <a:pt x="11363" y="3681908"/>
                  </a:lnTo>
                  <a:cubicBezTo>
                    <a:pt x="8350" y="3681908"/>
                    <a:pt x="5459" y="3680711"/>
                    <a:pt x="3328" y="3678580"/>
                  </a:cubicBezTo>
                  <a:cubicBezTo>
                    <a:pt x="1197" y="3676449"/>
                    <a:pt x="0" y="3673559"/>
                    <a:pt x="0" y="3670545"/>
                  </a:cubicBezTo>
                  <a:lnTo>
                    <a:pt x="0" y="11363"/>
                  </a:lnTo>
                  <a:cubicBezTo>
                    <a:pt x="0" y="5088"/>
                    <a:pt x="5088" y="0"/>
                    <a:pt x="11363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499847" cy="3729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924963" y="2707419"/>
            <a:ext cx="9809578" cy="2611800"/>
          </a:xfrm>
          <a:custGeom>
            <a:avLst/>
            <a:gdLst/>
            <a:ahLst/>
            <a:cxnLst/>
            <a:rect r="r" b="b" t="t" l="l"/>
            <a:pathLst>
              <a:path h="2611800" w="9809578">
                <a:moveTo>
                  <a:pt x="0" y="0"/>
                </a:moveTo>
                <a:lnTo>
                  <a:pt x="9809577" y="0"/>
                </a:lnTo>
                <a:lnTo>
                  <a:pt x="9809577" y="2611801"/>
                </a:lnTo>
                <a:lnTo>
                  <a:pt x="0" y="2611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4447" y="3074895"/>
            <a:ext cx="16413149" cy="6325018"/>
            <a:chOff x="0" y="0"/>
            <a:chExt cx="14660677" cy="5649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60677" cy="5649680"/>
            </a:xfrm>
            <a:custGeom>
              <a:avLst/>
              <a:gdLst/>
              <a:ahLst/>
              <a:cxnLst/>
              <a:rect r="r" b="b" t="t" l="l"/>
              <a:pathLst>
                <a:path h="5649680" w="14660677">
                  <a:moveTo>
                    <a:pt x="7041" y="0"/>
                  </a:moveTo>
                  <a:lnTo>
                    <a:pt x="14653636" y="0"/>
                  </a:lnTo>
                  <a:cubicBezTo>
                    <a:pt x="14655504" y="0"/>
                    <a:pt x="14657294" y="742"/>
                    <a:pt x="14658615" y="2062"/>
                  </a:cubicBezTo>
                  <a:cubicBezTo>
                    <a:pt x="14659936" y="3383"/>
                    <a:pt x="14660677" y="5174"/>
                    <a:pt x="14660677" y="7041"/>
                  </a:cubicBezTo>
                  <a:lnTo>
                    <a:pt x="14660677" y="5642639"/>
                  </a:lnTo>
                  <a:cubicBezTo>
                    <a:pt x="14660677" y="5644507"/>
                    <a:pt x="14659936" y="5646298"/>
                    <a:pt x="14658615" y="5647618"/>
                  </a:cubicBezTo>
                  <a:cubicBezTo>
                    <a:pt x="14657294" y="5648939"/>
                    <a:pt x="14655504" y="5649680"/>
                    <a:pt x="14653636" y="5649680"/>
                  </a:cubicBezTo>
                  <a:lnTo>
                    <a:pt x="7041" y="5649680"/>
                  </a:lnTo>
                  <a:cubicBezTo>
                    <a:pt x="5174" y="5649680"/>
                    <a:pt x="3383" y="5648939"/>
                    <a:pt x="2062" y="5647618"/>
                  </a:cubicBezTo>
                  <a:cubicBezTo>
                    <a:pt x="742" y="5646298"/>
                    <a:pt x="0" y="5644507"/>
                    <a:pt x="0" y="5642639"/>
                  </a:cubicBezTo>
                  <a:lnTo>
                    <a:pt x="0" y="7041"/>
                  </a:lnTo>
                  <a:cubicBezTo>
                    <a:pt x="0" y="5174"/>
                    <a:pt x="742" y="3383"/>
                    <a:pt x="2062" y="2062"/>
                  </a:cubicBezTo>
                  <a:cubicBezTo>
                    <a:pt x="3383" y="742"/>
                    <a:pt x="5174" y="0"/>
                    <a:pt x="704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60677" cy="5697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4447" y="3074895"/>
            <a:ext cx="16145002" cy="6154468"/>
            <a:chOff x="0" y="0"/>
            <a:chExt cx="14421161" cy="54973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21162" cy="5497340"/>
            </a:xfrm>
            <a:custGeom>
              <a:avLst/>
              <a:gdLst/>
              <a:ahLst/>
              <a:cxnLst/>
              <a:rect r="r" b="b" t="t" l="l"/>
              <a:pathLst>
                <a:path h="5497340" w="14421162">
                  <a:moveTo>
                    <a:pt x="7158" y="0"/>
                  </a:moveTo>
                  <a:lnTo>
                    <a:pt x="14414004" y="0"/>
                  </a:lnTo>
                  <a:cubicBezTo>
                    <a:pt x="14417957" y="0"/>
                    <a:pt x="14421162" y="3205"/>
                    <a:pt x="14421162" y="7158"/>
                  </a:cubicBezTo>
                  <a:lnTo>
                    <a:pt x="14421162" y="5490182"/>
                  </a:lnTo>
                  <a:cubicBezTo>
                    <a:pt x="14421162" y="5492081"/>
                    <a:pt x="14420408" y="5493901"/>
                    <a:pt x="14419066" y="5495244"/>
                  </a:cubicBezTo>
                  <a:cubicBezTo>
                    <a:pt x="14417723" y="5496586"/>
                    <a:pt x="14415901" y="5497340"/>
                    <a:pt x="14414004" y="5497340"/>
                  </a:cubicBezTo>
                  <a:lnTo>
                    <a:pt x="7158" y="5497340"/>
                  </a:lnTo>
                  <a:cubicBezTo>
                    <a:pt x="5260" y="5497340"/>
                    <a:pt x="3439" y="5496586"/>
                    <a:pt x="2097" y="5495244"/>
                  </a:cubicBezTo>
                  <a:cubicBezTo>
                    <a:pt x="754" y="5493901"/>
                    <a:pt x="0" y="5492081"/>
                    <a:pt x="0" y="5490182"/>
                  </a:cubicBezTo>
                  <a:lnTo>
                    <a:pt x="0" y="7158"/>
                  </a:lnTo>
                  <a:cubicBezTo>
                    <a:pt x="0" y="5260"/>
                    <a:pt x="754" y="3439"/>
                    <a:pt x="2097" y="2097"/>
                  </a:cubicBezTo>
                  <a:cubicBezTo>
                    <a:pt x="3439" y="754"/>
                    <a:pt x="5260" y="0"/>
                    <a:pt x="715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421161" cy="5544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9" id="9"/>
          <p:cNvSpPr/>
          <p:nvPr/>
        </p:nvSpPr>
        <p:spPr>
          <a:xfrm>
            <a:off x="1166399" y="638054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166399" y="523754"/>
            <a:ext cx="797760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System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1779" y="3288635"/>
            <a:ext cx="11754974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od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l: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lBERT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fine-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uned fo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6-cl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ss 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racit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ssif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catio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6399" y="2034767"/>
            <a:ext cx="7977601" cy="55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 integrated components: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1779" y="4625557"/>
            <a:ext cx="10438354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CNN Comp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ent: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Tex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t-CNN (Kim, 2014) — 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mpl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ted 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atch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ver GloVe 300d embeddings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1779" y="5962479"/>
            <a:ext cx="10438354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NLP Comp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onent: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spaCy NER —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tracts PERSON, ORG, GPE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tities for 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venance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1779" y="7544265"/>
            <a:ext cx="11205177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RL Comp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onent: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tual ba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with epsilon-greedy explo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ratio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— learns optimal confidence threshold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695928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2199845"/>
            <a:ext cx="8308603" cy="3047644"/>
            <a:chOff x="0" y="0"/>
            <a:chExt cx="11078137" cy="406352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346451" y="1016713"/>
              <a:ext cx="2834508" cy="342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33760" indent="-166880" lvl="1">
                <a:lnSpc>
                  <a:spcPts val="21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45" spc="7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Log</a:t>
              </a:r>
              <a:r>
                <a:rPr lang="en-US" sz="1545" spc="7" u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istic Regression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46451" y="2127247"/>
              <a:ext cx="2834508" cy="342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33760" indent="-166880" lvl="1">
                <a:lnSpc>
                  <a:spcPts val="21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45" spc="7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T</a:t>
              </a:r>
              <a:r>
                <a:rPr lang="en-US" sz="1545" spc="7" u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ext-CNN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46451" y="3241571"/>
              <a:ext cx="2834508" cy="342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33760" indent="-166880" lvl="1">
                <a:lnSpc>
                  <a:spcPts val="216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45" spc="7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D</a:t>
              </a:r>
              <a:r>
                <a:rPr lang="en-US" sz="1545" spc="7" u="non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istilBERT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267720" y="1016713"/>
              <a:ext cx="2834508" cy="349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6"/>
                </a:lnSpc>
                <a:spcBef>
                  <a:spcPct val="0"/>
                </a:spcBef>
              </a:pPr>
              <a:r>
                <a:rPr lang="en-US" sz="1625" spc="8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0.2478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267720" y="2127247"/>
              <a:ext cx="2834508" cy="349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6"/>
                </a:lnSpc>
                <a:spcBef>
                  <a:spcPct val="0"/>
                </a:spcBef>
              </a:pPr>
              <a:r>
                <a:rPr lang="en-US" sz="1625" spc="8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0.2478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267720" y="3241571"/>
              <a:ext cx="2834508" cy="349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6"/>
                </a:lnSpc>
                <a:spcBef>
                  <a:spcPct val="0"/>
                </a:spcBef>
              </a:pPr>
              <a:r>
                <a:rPr lang="en-US" sz="1625" spc="8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0.2762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826735" y="1007188"/>
              <a:ext cx="2834508" cy="368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3"/>
                </a:lnSpc>
              </a:pPr>
              <a:r>
                <a:rPr lang="en-US" sz="1645" spc="8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0.2214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7826735" y="2117722"/>
              <a:ext cx="2834508" cy="368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3"/>
                </a:lnSpc>
              </a:pPr>
              <a:r>
                <a:rPr lang="en-US" sz="1645" spc="8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0.2384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826735" y="3232046"/>
              <a:ext cx="2834508" cy="368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3"/>
                </a:lnSpc>
              </a:pPr>
              <a:r>
                <a:rPr lang="en-US" sz="1645" spc="8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0.2602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0"/>
              <a:ext cx="3995806" cy="729015"/>
              <a:chOff x="0" y="0"/>
              <a:chExt cx="29445010" cy="53721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9445009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29445009">
                    <a:moveTo>
                      <a:pt x="27894341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27894341" y="5372100"/>
                    </a:lnTo>
                    <a:lnTo>
                      <a:pt x="29445009" y="2686050"/>
                    </a:lnTo>
                    <a:lnTo>
                      <a:pt x="27894341" y="0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3544158" y="0"/>
              <a:ext cx="3995806" cy="729015"/>
              <a:chOff x="0" y="0"/>
              <a:chExt cx="29445010" cy="53721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9445009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29445009">
                    <a:moveTo>
                      <a:pt x="27894341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27894341" y="5372100"/>
                    </a:lnTo>
                    <a:lnTo>
                      <a:pt x="29445009" y="2686050"/>
                    </a:lnTo>
                    <a:lnTo>
                      <a:pt x="27894341" y="0"/>
                    </a:lnTo>
                    <a:close/>
                  </a:path>
                </a:pathLst>
              </a:custGeom>
              <a:solidFill>
                <a:srgbClr val="8B8B8B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7082331" y="0"/>
              <a:ext cx="3995806" cy="729015"/>
              <a:chOff x="0" y="0"/>
              <a:chExt cx="29445010" cy="53721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9445009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29445009">
                    <a:moveTo>
                      <a:pt x="27894341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27894341" y="5372100"/>
                    </a:lnTo>
                    <a:lnTo>
                      <a:pt x="29445009" y="2686050"/>
                    </a:lnTo>
                    <a:lnTo>
                      <a:pt x="27894341" y="0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</p:grpSp>
        <p:sp>
          <p:nvSpPr>
            <p:cNvPr name="AutoShape 20" id="20"/>
            <p:cNvSpPr/>
            <p:nvPr/>
          </p:nvSpPr>
          <p:spPr>
            <a:xfrm>
              <a:off x="214855" y="1833582"/>
              <a:ext cx="10654305" cy="0"/>
            </a:xfrm>
            <a:prstGeom prst="line">
              <a:avLst/>
            </a:prstGeom>
            <a:ln cap="flat" w="10170">
              <a:solidFill>
                <a:srgbClr val="A6A6A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214855" y="2944116"/>
              <a:ext cx="10654305" cy="0"/>
            </a:xfrm>
            <a:prstGeom prst="line">
              <a:avLst/>
            </a:prstGeom>
            <a:ln cap="flat" w="10170">
              <a:solidFill>
                <a:srgbClr val="A6A6A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214855" y="4058440"/>
              <a:ext cx="10654305" cy="0"/>
            </a:xfrm>
            <a:prstGeom prst="line">
              <a:avLst/>
            </a:prstGeom>
            <a:ln cap="flat" w="10170">
              <a:solidFill>
                <a:srgbClr val="A6A6A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346451" y="194937"/>
              <a:ext cx="2970956" cy="346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7"/>
                </a:lnSpc>
              </a:pPr>
              <a:r>
                <a:rPr lang="en-US" sz="1681" b="true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Model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905466" y="194937"/>
              <a:ext cx="2948215" cy="346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17"/>
                </a:lnSpc>
                <a:spcBef>
                  <a:spcPct val="0"/>
                </a:spcBef>
              </a:pPr>
              <a:r>
                <a:rPr lang="en-US" b="true" sz="168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</a:t>
              </a:r>
              <a:r>
                <a:rPr lang="en-US" b="true" sz="1681" u="none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est Accuracy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464482" y="194937"/>
              <a:ext cx="3255223" cy="346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17"/>
                </a:lnSpc>
                <a:spcBef>
                  <a:spcPct val="0"/>
                </a:spcBef>
              </a:pPr>
              <a:r>
                <a:rPr lang="en-US" b="true" sz="168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</a:t>
              </a:r>
              <a:r>
                <a:rPr lang="en-US" b="true" sz="1681" u="none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est Macro-F1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37303" y="2199845"/>
            <a:ext cx="8684581" cy="5026555"/>
            <a:chOff x="0" y="0"/>
            <a:chExt cx="7757307" cy="44898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757307" cy="4489857"/>
            </a:xfrm>
            <a:custGeom>
              <a:avLst/>
              <a:gdLst/>
              <a:ahLst/>
              <a:cxnLst/>
              <a:rect r="r" b="b" t="t" l="l"/>
              <a:pathLst>
                <a:path h="4489857" w="7757307">
                  <a:moveTo>
                    <a:pt x="13307" y="0"/>
                  </a:moveTo>
                  <a:lnTo>
                    <a:pt x="7744000" y="0"/>
                  </a:lnTo>
                  <a:cubicBezTo>
                    <a:pt x="7751349" y="0"/>
                    <a:pt x="7757307" y="5958"/>
                    <a:pt x="7757307" y="13307"/>
                  </a:cubicBezTo>
                  <a:lnTo>
                    <a:pt x="7757307" y="4476550"/>
                  </a:lnTo>
                  <a:cubicBezTo>
                    <a:pt x="7757307" y="4483900"/>
                    <a:pt x="7751349" y="4489857"/>
                    <a:pt x="7744000" y="4489857"/>
                  </a:cubicBezTo>
                  <a:lnTo>
                    <a:pt x="13307" y="4489857"/>
                  </a:lnTo>
                  <a:cubicBezTo>
                    <a:pt x="5958" y="4489857"/>
                    <a:pt x="0" y="4483900"/>
                    <a:pt x="0" y="4476550"/>
                  </a:cubicBezTo>
                  <a:lnTo>
                    <a:pt x="0" y="13307"/>
                  </a:lnTo>
                  <a:cubicBezTo>
                    <a:pt x="0" y="5958"/>
                    <a:pt x="5958" y="0"/>
                    <a:pt x="13307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75730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10923" y="2352245"/>
            <a:ext cx="8658655" cy="5026555"/>
            <a:chOff x="0" y="0"/>
            <a:chExt cx="7734149" cy="44898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734150" cy="4489857"/>
            </a:xfrm>
            <a:custGeom>
              <a:avLst/>
              <a:gdLst/>
              <a:ahLst/>
              <a:cxnLst/>
              <a:rect r="r" b="b" t="t" l="l"/>
              <a:pathLst>
                <a:path h="4489857" w="7734150">
                  <a:moveTo>
                    <a:pt x="13347" y="0"/>
                  </a:moveTo>
                  <a:lnTo>
                    <a:pt x="7720803" y="0"/>
                  </a:lnTo>
                  <a:cubicBezTo>
                    <a:pt x="7728174" y="0"/>
                    <a:pt x="7734150" y="5976"/>
                    <a:pt x="7734150" y="13347"/>
                  </a:cubicBezTo>
                  <a:lnTo>
                    <a:pt x="7734150" y="4476510"/>
                  </a:lnTo>
                  <a:cubicBezTo>
                    <a:pt x="7734150" y="4483882"/>
                    <a:pt x="7728174" y="4489857"/>
                    <a:pt x="7720803" y="4489857"/>
                  </a:cubicBezTo>
                  <a:lnTo>
                    <a:pt x="13347" y="4489857"/>
                  </a:lnTo>
                  <a:cubicBezTo>
                    <a:pt x="5976" y="4489857"/>
                    <a:pt x="0" y="4483882"/>
                    <a:pt x="0" y="4476510"/>
                  </a:cubicBezTo>
                  <a:lnTo>
                    <a:pt x="0" y="13347"/>
                  </a:lnTo>
                  <a:cubicBezTo>
                    <a:pt x="0" y="5976"/>
                    <a:pt x="5976" y="0"/>
                    <a:pt x="13347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734149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9652610" y="3064736"/>
            <a:ext cx="8241930" cy="3296772"/>
          </a:xfrm>
          <a:custGeom>
            <a:avLst/>
            <a:gdLst/>
            <a:ahLst/>
            <a:cxnLst/>
            <a:rect r="r" b="b" t="t" l="l"/>
            <a:pathLst>
              <a:path h="3296772" w="8241930">
                <a:moveTo>
                  <a:pt x="0" y="0"/>
                </a:moveTo>
                <a:lnTo>
                  <a:pt x="8241930" y="0"/>
                </a:lnTo>
                <a:lnTo>
                  <a:pt x="8241930" y="3296772"/>
                </a:lnTo>
                <a:lnTo>
                  <a:pt x="0" y="3296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66399" y="581628"/>
            <a:ext cx="91471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Results &amp; Baselines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5819744"/>
            <a:ext cx="5940959" cy="78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815" indent="-219407" lvl="1">
              <a:lnSpc>
                <a:spcPts val="3251"/>
              </a:lnSpc>
              <a:buFont typeface="Arial"/>
              <a:buChar char="•"/>
            </a:pPr>
            <a:r>
              <a:rPr lang="en-US" sz="20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</a:t>
            </a:r>
            <a:r>
              <a:rPr lang="en-US" sz="2032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stilBERT outperforms b</a:t>
            </a:r>
            <a:r>
              <a:rPr lang="en-US" sz="2032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oth b</a:t>
            </a:r>
            <a:r>
              <a:rPr lang="en-US" sz="2032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aselines on all metrics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7008834"/>
            <a:ext cx="7438024" cy="78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815" indent="-219407" lvl="1">
              <a:lnSpc>
                <a:spcPts val="3251"/>
              </a:lnSpc>
              <a:buFont typeface="Arial"/>
              <a:buChar char="•"/>
            </a:pPr>
            <a:r>
              <a:rPr lang="en-US" sz="20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Low ab</a:t>
            </a:r>
            <a:r>
              <a:rPr lang="en-US" sz="2032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solute scores expect</a:t>
            </a:r>
            <a:r>
              <a:rPr lang="en-US" sz="2032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</a:t>
            </a:r>
            <a:r>
              <a:rPr lang="en-US" sz="2032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32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 6-cl</a:t>
            </a:r>
            <a:r>
              <a:rPr lang="en-US" sz="2032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ass veracity classification on short text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496425" y="4636709"/>
            <a:ext cx="8313971" cy="4116662"/>
            <a:chOff x="0" y="0"/>
            <a:chExt cx="9067672" cy="448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67672" cy="4489857"/>
            </a:xfrm>
            <a:custGeom>
              <a:avLst/>
              <a:gdLst/>
              <a:ahLst/>
              <a:cxnLst/>
              <a:rect r="r" b="b" t="t" l="l"/>
              <a:pathLst>
                <a:path h="4489857" w="9067672">
                  <a:moveTo>
                    <a:pt x="13900" y="0"/>
                  </a:moveTo>
                  <a:lnTo>
                    <a:pt x="9053772" y="0"/>
                  </a:lnTo>
                  <a:cubicBezTo>
                    <a:pt x="9061448" y="0"/>
                    <a:pt x="9067672" y="6223"/>
                    <a:pt x="9067672" y="13900"/>
                  </a:cubicBezTo>
                  <a:lnTo>
                    <a:pt x="9067672" y="4475957"/>
                  </a:lnTo>
                  <a:cubicBezTo>
                    <a:pt x="9067672" y="4483634"/>
                    <a:pt x="9061448" y="4489857"/>
                    <a:pt x="9053772" y="4489857"/>
                  </a:cubicBezTo>
                  <a:lnTo>
                    <a:pt x="13900" y="4489857"/>
                  </a:lnTo>
                  <a:cubicBezTo>
                    <a:pt x="6223" y="4489857"/>
                    <a:pt x="0" y="4483634"/>
                    <a:pt x="0" y="4475957"/>
                  </a:cubicBezTo>
                  <a:lnTo>
                    <a:pt x="0" y="13900"/>
                  </a:lnTo>
                  <a:cubicBezTo>
                    <a:pt x="0" y="6223"/>
                    <a:pt x="6223" y="0"/>
                    <a:pt x="139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067672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6399" y="536776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966585" y="1988283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Abl</a:t>
            </a:r>
            <a:r>
              <a:rPr lang="en-US" b="true" sz="32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ation 1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9148762" y="1996478"/>
            <a:ext cx="0" cy="7464474"/>
          </a:xfrm>
          <a:prstGeom prst="line">
            <a:avLst/>
          </a:prstGeom>
          <a:ln cap="flat" w="9525">
            <a:solidFill>
              <a:srgbClr val="15151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654250" y="4859614"/>
            <a:ext cx="8289151" cy="4116662"/>
            <a:chOff x="0" y="0"/>
            <a:chExt cx="9040603" cy="44898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40602" cy="4489857"/>
            </a:xfrm>
            <a:custGeom>
              <a:avLst/>
              <a:gdLst/>
              <a:ahLst/>
              <a:cxnLst/>
              <a:rect r="r" b="b" t="t" l="l"/>
              <a:pathLst>
                <a:path h="4489857" w="9040602">
                  <a:moveTo>
                    <a:pt x="13942" y="0"/>
                  </a:moveTo>
                  <a:lnTo>
                    <a:pt x="9026661" y="0"/>
                  </a:lnTo>
                  <a:cubicBezTo>
                    <a:pt x="9034360" y="0"/>
                    <a:pt x="9040602" y="6242"/>
                    <a:pt x="9040602" y="13942"/>
                  </a:cubicBezTo>
                  <a:lnTo>
                    <a:pt x="9040602" y="4475916"/>
                  </a:lnTo>
                  <a:cubicBezTo>
                    <a:pt x="9040602" y="4483615"/>
                    <a:pt x="9034360" y="4489857"/>
                    <a:pt x="9026661" y="4489857"/>
                  </a:cubicBezTo>
                  <a:lnTo>
                    <a:pt x="13942" y="4489857"/>
                  </a:lnTo>
                  <a:cubicBezTo>
                    <a:pt x="6242" y="4489857"/>
                    <a:pt x="0" y="4483615"/>
                    <a:pt x="0" y="4475916"/>
                  </a:cubicBezTo>
                  <a:lnTo>
                    <a:pt x="0" y="13942"/>
                  </a:lnTo>
                  <a:cubicBezTo>
                    <a:pt x="0" y="6242"/>
                    <a:pt x="6242" y="0"/>
                    <a:pt x="1394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040603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115541" y="5132186"/>
            <a:ext cx="7143038" cy="3571519"/>
          </a:xfrm>
          <a:custGeom>
            <a:avLst/>
            <a:gdLst/>
            <a:ahLst/>
            <a:cxnLst/>
            <a:rect r="r" b="b" t="t" l="l"/>
            <a:pathLst>
              <a:path h="3571519" w="7143038">
                <a:moveTo>
                  <a:pt x="0" y="0"/>
                </a:moveTo>
                <a:lnTo>
                  <a:pt x="7143038" y="0"/>
                </a:lnTo>
                <a:lnTo>
                  <a:pt x="7143038" y="3571519"/>
                </a:lnTo>
                <a:lnTo>
                  <a:pt x="0" y="35715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60278" y="435253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Ablations &amp; Error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68987" y="2613996"/>
            <a:ext cx="2716342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Adam vs AdamW: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37860" y="3089849"/>
            <a:ext cx="3078051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Adam (0.2743) &gt; AdamW (0.2690)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37410" y="3989952"/>
            <a:ext cx="244144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 Macro-F1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90634" y="1921915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Abl</a:t>
            </a:r>
            <a:r>
              <a:rPr lang="en-US" b="true" sz="32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ation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87252" y="2547867"/>
            <a:ext cx="2716342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Early Stopping: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72084" y="3026022"/>
            <a:ext cx="3078051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With (0.2654) &gt; Without (0.2602)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24702" y="3989952"/>
            <a:ext cx="244144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 Macro-F1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54124" y="4636709"/>
            <a:ext cx="8313971" cy="4116662"/>
            <a:chOff x="0" y="0"/>
            <a:chExt cx="9067672" cy="44898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67672" cy="4489857"/>
            </a:xfrm>
            <a:custGeom>
              <a:avLst/>
              <a:gdLst/>
              <a:ahLst/>
              <a:cxnLst/>
              <a:rect r="r" b="b" t="t" l="l"/>
              <a:pathLst>
                <a:path h="4489857" w="9067672">
                  <a:moveTo>
                    <a:pt x="13900" y="0"/>
                  </a:moveTo>
                  <a:lnTo>
                    <a:pt x="9053772" y="0"/>
                  </a:lnTo>
                  <a:cubicBezTo>
                    <a:pt x="9061448" y="0"/>
                    <a:pt x="9067672" y="6223"/>
                    <a:pt x="9067672" y="13900"/>
                  </a:cubicBezTo>
                  <a:lnTo>
                    <a:pt x="9067672" y="4475957"/>
                  </a:lnTo>
                  <a:cubicBezTo>
                    <a:pt x="9067672" y="4483634"/>
                    <a:pt x="9061448" y="4489857"/>
                    <a:pt x="9053772" y="4489857"/>
                  </a:cubicBezTo>
                  <a:lnTo>
                    <a:pt x="13900" y="4489857"/>
                  </a:lnTo>
                  <a:cubicBezTo>
                    <a:pt x="6223" y="4489857"/>
                    <a:pt x="0" y="4483634"/>
                    <a:pt x="0" y="4475957"/>
                  </a:cubicBezTo>
                  <a:lnTo>
                    <a:pt x="0" y="13900"/>
                  </a:lnTo>
                  <a:cubicBezTo>
                    <a:pt x="0" y="6223"/>
                    <a:pt x="6223" y="0"/>
                    <a:pt x="139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067672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11949" y="4859614"/>
            <a:ext cx="8289151" cy="4116662"/>
            <a:chOff x="0" y="0"/>
            <a:chExt cx="9040603" cy="44898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040602" cy="4489857"/>
            </a:xfrm>
            <a:custGeom>
              <a:avLst/>
              <a:gdLst/>
              <a:ahLst/>
              <a:cxnLst/>
              <a:rect r="r" b="b" t="t" l="l"/>
              <a:pathLst>
                <a:path h="4489857" w="9040602">
                  <a:moveTo>
                    <a:pt x="13942" y="0"/>
                  </a:moveTo>
                  <a:lnTo>
                    <a:pt x="9026661" y="0"/>
                  </a:lnTo>
                  <a:cubicBezTo>
                    <a:pt x="9034360" y="0"/>
                    <a:pt x="9040602" y="6242"/>
                    <a:pt x="9040602" y="13942"/>
                  </a:cubicBezTo>
                  <a:lnTo>
                    <a:pt x="9040602" y="4475916"/>
                  </a:lnTo>
                  <a:cubicBezTo>
                    <a:pt x="9040602" y="4483615"/>
                    <a:pt x="9034360" y="4489857"/>
                    <a:pt x="9026661" y="4489857"/>
                  </a:cubicBezTo>
                  <a:lnTo>
                    <a:pt x="13942" y="4489857"/>
                  </a:lnTo>
                  <a:cubicBezTo>
                    <a:pt x="6242" y="4489857"/>
                    <a:pt x="0" y="4483615"/>
                    <a:pt x="0" y="4475916"/>
                  </a:cubicBezTo>
                  <a:lnTo>
                    <a:pt x="0" y="13942"/>
                  </a:lnTo>
                  <a:cubicBezTo>
                    <a:pt x="0" y="6242"/>
                    <a:pt x="6242" y="0"/>
                    <a:pt x="13942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040603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03370" y="5049783"/>
            <a:ext cx="7106308" cy="3553154"/>
          </a:xfrm>
          <a:custGeom>
            <a:avLst/>
            <a:gdLst/>
            <a:ahLst/>
            <a:cxnLst/>
            <a:rect r="r" b="b" t="t" l="l"/>
            <a:pathLst>
              <a:path h="3553154" w="7106308">
                <a:moveTo>
                  <a:pt x="0" y="0"/>
                </a:moveTo>
                <a:lnTo>
                  <a:pt x="7106309" y="0"/>
                </a:lnTo>
                <a:lnTo>
                  <a:pt x="7106309" y="3553154"/>
                </a:lnTo>
                <a:lnTo>
                  <a:pt x="0" y="3553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01735" y="3770905"/>
            <a:ext cx="7323421" cy="5491811"/>
            <a:chOff x="0" y="0"/>
            <a:chExt cx="7757307" cy="58171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757307" cy="5817181"/>
            </a:xfrm>
            <a:custGeom>
              <a:avLst/>
              <a:gdLst/>
              <a:ahLst/>
              <a:cxnLst/>
              <a:rect r="r" b="b" t="t" l="l"/>
              <a:pathLst>
                <a:path h="5817181" w="7757307">
                  <a:moveTo>
                    <a:pt x="15780" y="0"/>
                  </a:moveTo>
                  <a:lnTo>
                    <a:pt x="7741527" y="0"/>
                  </a:lnTo>
                  <a:cubicBezTo>
                    <a:pt x="7750242" y="0"/>
                    <a:pt x="7757307" y="7065"/>
                    <a:pt x="7757307" y="15780"/>
                  </a:cubicBezTo>
                  <a:lnTo>
                    <a:pt x="7757307" y="5801401"/>
                  </a:lnTo>
                  <a:cubicBezTo>
                    <a:pt x="7757307" y="5810116"/>
                    <a:pt x="7750242" y="5817181"/>
                    <a:pt x="7741527" y="5817181"/>
                  </a:cubicBezTo>
                  <a:lnTo>
                    <a:pt x="15780" y="5817181"/>
                  </a:lnTo>
                  <a:cubicBezTo>
                    <a:pt x="7065" y="5817181"/>
                    <a:pt x="0" y="5810116"/>
                    <a:pt x="0" y="5801401"/>
                  </a:cubicBezTo>
                  <a:lnTo>
                    <a:pt x="0" y="15780"/>
                  </a:lnTo>
                  <a:cubicBezTo>
                    <a:pt x="0" y="7065"/>
                    <a:pt x="7065" y="0"/>
                    <a:pt x="1578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7757307" cy="5864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8143" y="3937411"/>
            <a:ext cx="7301558" cy="5491811"/>
            <a:chOff x="0" y="0"/>
            <a:chExt cx="7734149" cy="58171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4150" cy="5817181"/>
            </a:xfrm>
            <a:custGeom>
              <a:avLst/>
              <a:gdLst/>
              <a:ahLst/>
              <a:cxnLst/>
              <a:rect r="r" b="b" t="t" l="l"/>
              <a:pathLst>
                <a:path h="5817181" w="7734150">
                  <a:moveTo>
                    <a:pt x="15827" y="0"/>
                  </a:moveTo>
                  <a:lnTo>
                    <a:pt x="7718322" y="0"/>
                  </a:lnTo>
                  <a:cubicBezTo>
                    <a:pt x="7727063" y="0"/>
                    <a:pt x="7734150" y="7086"/>
                    <a:pt x="7734150" y="15827"/>
                  </a:cubicBezTo>
                  <a:lnTo>
                    <a:pt x="7734150" y="5801353"/>
                  </a:lnTo>
                  <a:cubicBezTo>
                    <a:pt x="7734150" y="5810095"/>
                    <a:pt x="7727063" y="5817181"/>
                    <a:pt x="7718322" y="5817181"/>
                  </a:cubicBezTo>
                  <a:lnTo>
                    <a:pt x="15827" y="5817181"/>
                  </a:lnTo>
                  <a:cubicBezTo>
                    <a:pt x="7086" y="5817181"/>
                    <a:pt x="0" y="5810095"/>
                    <a:pt x="0" y="5801353"/>
                  </a:cubicBezTo>
                  <a:lnTo>
                    <a:pt x="0" y="15827"/>
                  </a:lnTo>
                  <a:cubicBezTo>
                    <a:pt x="0" y="7086"/>
                    <a:pt x="7086" y="0"/>
                    <a:pt x="15827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7734149" cy="5864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54575" y="4019080"/>
            <a:ext cx="6843222" cy="5099145"/>
          </a:xfrm>
          <a:custGeom>
            <a:avLst/>
            <a:gdLst/>
            <a:ahLst/>
            <a:cxnLst/>
            <a:rect r="r" b="b" t="t" l="l"/>
            <a:pathLst>
              <a:path h="5099145" w="6843222">
                <a:moveTo>
                  <a:pt x="0" y="0"/>
                </a:moveTo>
                <a:lnTo>
                  <a:pt x="6843222" y="0"/>
                </a:lnTo>
                <a:lnTo>
                  <a:pt x="6843222" y="5099145"/>
                </a:lnTo>
                <a:lnTo>
                  <a:pt x="0" y="5099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52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166399" y="536776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9139238" y="2014166"/>
            <a:ext cx="0" cy="7464474"/>
          </a:xfrm>
          <a:prstGeom prst="line">
            <a:avLst/>
          </a:prstGeom>
          <a:ln cap="flat" w="9525">
            <a:solidFill>
              <a:srgbClr val="15151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895076" y="3770905"/>
            <a:ext cx="7323421" cy="5491811"/>
            <a:chOff x="0" y="0"/>
            <a:chExt cx="7757307" cy="58171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57307" cy="5817181"/>
            </a:xfrm>
            <a:custGeom>
              <a:avLst/>
              <a:gdLst/>
              <a:ahLst/>
              <a:cxnLst/>
              <a:rect r="r" b="b" t="t" l="l"/>
              <a:pathLst>
                <a:path h="5817181" w="7757307">
                  <a:moveTo>
                    <a:pt x="15780" y="0"/>
                  </a:moveTo>
                  <a:lnTo>
                    <a:pt x="7741527" y="0"/>
                  </a:lnTo>
                  <a:cubicBezTo>
                    <a:pt x="7750242" y="0"/>
                    <a:pt x="7757307" y="7065"/>
                    <a:pt x="7757307" y="15780"/>
                  </a:cubicBezTo>
                  <a:lnTo>
                    <a:pt x="7757307" y="5801401"/>
                  </a:lnTo>
                  <a:cubicBezTo>
                    <a:pt x="7757307" y="5810116"/>
                    <a:pt x="7750242" y="5817181"/>
                    <a:pt x="7741527" y="5817181"/>
                  </a:cubicBezTo>
                  <a:lnTo>
                    <a:pt x="15780" y="5817181"/>
                  </a:lnTo>
                  <a:cubicBezTo>
                    <a:pt x="7065" y="5817181"/>
                    <a:pt x="0" y="5810116"/>
                    <a:pt x="0" y="5801401"/>
                  </a:cubicBezTo>
                  <a:lnTo>
                    <a:pt x="0" y="15780"/>
                  </a:lnTo>
                  <a:cubicBezTo>
                    <a:pt x="0" y="7065"/>
                    <a:pt x="7065" y="0"/>
                    <a:pt x="1578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757307" cy="5864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41484" y="3937411"/>
            <a:ext cx="7301558" cy="5491811"/>
            <a:chOff x="0" y="0"/>
            <a:chExt cx="7734149" cy="58171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34150" cy="5817181"/>
            </a:xfrm>
            <a:custGeom>
              <a:avLst/>
              <a:gdLst/>
              <a:ahLst/>
              <a:cxnLst/>
              <a:rect r="r" b="b" t="t" l="l"/>
              <a:pathLst>
                <a:path h="5817181" w="7734150">
                  <a:moveTo>
                    <a:pt x="15827" y="0"/>
                  </a:moveTo>
                  <a:lnTo>
                    <a:pt x="7718322" y="0"/>
                  </a:lnTo>
                  <a:cubicBezTo>
                    <a:pt x="7727063" y="0"/>
                    <a:pt x="7734150" y="7086"/>
                    <a:pt x="7734150" y="15827"/>
                  </a:cubicBezTo>
                  <a:lnTo>
                    <a:pt x="7734150" y="5801353"/>
                  </a:lnTo>
                  <a:cubicBezTo>
                    <a:pt x="7734150" y="5810095"/>
                    <a:pt x="7727063" y="5817181"/>
                    <a:pt x="7718322" y="5817181"/>
                  </a:cubicBezTo>
                  <a:lnTo>
                    <a:pt x="15827" y="5817181"/>
                  </a:lnTo>
                  <a:cubicBezTo>
                    <a:pt x="7086" y="5817181"/>
                    <a:pt x="0" y="5810095"/>
                    <a:pt x="0" y="5801353"/>
                  </a:cubicBezTo>
                  <a:lnTo>
                    <a:pt x="0" y="15827"/>
                  </a:lnTo>
                  <a:cubicBezTo>
                    <a:pt x="0" y="7086"/>
                    <a:pt x="7086" y="0"/>
                    <a:pt x="15827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734149" cy="5864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334966" y="4019080"/>
            <a:ext cx="6798860" cy="5099145"/>
          </a:xfrm>
          <a:custGeom>
            <a:avLst/>
            <a:gdLst/>
            <a:ahLst/>
            <a:cxnLst/>
            <a:rect r="r" b="b" t="t" l="l"/>
            <a:pathLst>
              <a:path h="5099145" w="6798860">
                <a:moveTo>
                  <a:pt x="0" y="0"/>
                </a:moveTo>
                <a:lnTo>
                  <a:pt x="6798860" y="0"/>
                </a:lnTo>
                <a:lnTo>
                  <a:pt x="6798860" y="5099145"/>
                </a:lnTo>
                <a:lnTo>
                  <a:pt x="0" y="5099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083401" y="2651292"/>
            <a:ext cx="7071316" cy="84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Model overconfident above 0.5 probability — supports conservative threshold of 0.8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0278" y="435253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Ablations &amp; Error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02527" y="2008434"/>
            <a:ext cx="532183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Confu</a:t>
            </a:r>
            <a:r>
              <a:rPr lang="en-US" b="true" sz="30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sion Matrix finding: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1838" y="2707728"/>
            <a:ext cx="6203215" cy="84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Model predicts toward middle classes — pants-fire most confused with false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98584" y="2008434"/>
            <a:ext cx="344095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Calibr</a:t>
            </a:r>
            <a:r>
              <a:rPr lang="en-US" b="true" sz="30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ation: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609118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888169" y="2662953"/>
          <a:ext cx="14511662" cy="4961094"/>
        </p:xfrm>
        <a:graphic>
          <a:graphicData uri="http://schemas.openxmlformats.org/drawingml/2006/table">
            <a:tbl>
              <a:tblPr/>
              <a:tblGrid>
                <a:gridCol w="4669033"/>
                <a:gridCol w="4669033"/>
                <a:gridCol w="5173595"/>
              </a:tblGrid>
              <a:tr h="13059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Party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4E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4E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Macro-F1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4E4E"/>
                    </a:solidFill>
                  </a:tcPr>
                </a:tc>
              </a:tr>
              <a:tr h="1217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epublican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571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0.2231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7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emocrat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406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0.2715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No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0.2641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66399" y="494818"/>
            <a:ext cx="843147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Bias &amp; RL Analysis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609118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612685" y="2519901"/>
            <a:ext cx="3588175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NER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Slice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nalysis: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9008" y="2519901"/>
            <a:ext cx="3588175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Band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 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nt: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29733" y="2883756"/>
            <a:ext cx="7029567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Converged on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threshold 0.8 after 500 episodes, outperforms fixed threshold baseline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17499" y="4152486"/>
            <a:ext cx="7459216" cy="4323623"/>
            <a:chOff x="0" y="0"/>
            <a:chExt cx="9067672" cy="52559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67672" cy="5255941"/>
            </a:xfrm>
            <a:custGeom>
              <a:avLst/>
              <a:gdLst/>
              <a:ahLst/>
              <a:cxnLst/>
              <a:rect r="r" b="b" t="t" l="l"/>
              <a:pathLst>
                <a:path h="5255941" w="9067672">
                  <a:moveTo>
                    <a:pt x="15493" y="0"/>
                  </a:moveTo>
                  <a:lnTo>
                    <a:pt x="9052179" y="0"/>
                  </a:lnTo>
                  <a:cubicBezTo>
                    <a:pt x="9056288" y="0"/>
                    <a:pt x="9060229" y="1632"/>
                    <a:pt x="9063134" y="4538"/>
                  </a:cubicBezTo>
                  <a:cubicBezTo>
                    <a:pt x="9066040" y="7443"/>
                    <a:pt x="9067672" y="11384"/>
                    <a:pt x="9067672" y="15493"/>
                  </a:cubicBezTo>
                  <a:lnTo>
                    <a:pt x="9067672" y="5240448"/>
                  </a:lnTo>
                  <a:cubicBezTo>
                    <a:pt x="9067672" y="5244557"/>
                    <a:pt x="9066040" y="5248497"/>
                    <a:pt x="9063134" y="5251403"/>
                  </a:cubicBezTo>
                  <a:cubicBezTo>
                    <a:pt x="9060229" y="5254308"/>
                    <a:pt x="9056288" y="5255941"/>
                    <a:pt x="9052179" y="5255941"/>
                  </a:cubicBezTo>
                  <a:lnTo>
                    <a:pt x="15493" y="5255941"/>
                  </a:lnTo>
                  <a:cubicBezTo>
                    <a:pt x="11384" y="5255941"/>
                    <a:pt x="7443" y="5254308"/>
                    <a:pt x="4538" y="5251403"/>
                  </a:cubicBezTo>
                  <a:cubicBezTo>
                    <a:pt x="1632" y="5248497"/>
                    <a:pt x="0" y="5244557"/>
                    <a:pt x="0" y="5240448"/>
                  </a:cubicBezTo>
                  <a:lnTo>
                    <a:pt x="0" y="15493"/>
                  </a:lnTo>
                  <a:cubicBezTo>
                    <a:pt x="0" y="11384"/>
                    <a:pt x="1632" y="7443"/>
                    <a:pt x="4538" y="4538"/>
                  </a:cubicBezTo>
                  <a:cubicBezTo>
                    <a:pt x="7443" y="1632"/>
                    <a:pt x="11384" y="0"/>
                    <a:pt x="15493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067672" cy="5303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9098" y="4386598"/>
            <a:ext cx="7436948" cy="4323623"/>
            <a:chOff x="0" y="0"/>
            <a:chExt cx="9040603" cy="52559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40602" cy="5255941"/>
            </a:xfrm>
            <a:custGeom>
              <a:avLst/>
              <a:gdLst/>
              <a:ahLst/>
              <a:cxnLst/>
              <a:rect r="r" b="b" t="t" l="l"/>
              <a:pathLst>
                <a:path h="5255941" w="9040602">
                  <a:moveTo>
                    <a:pt x="15539" y="0"/>
                  </a:moveTo>
                  <a:lnTo>
                    <a:pt x="9025063" y="0"/>
                  </a:lnTo>
                  <a:cubicBezTo>
                    <a:pt x="9029185" y="0"/>
                    <a:pt x="9033137" y="1637"/>
                    <a:pt x="9036051" y="4551"/>
                  </a:cubicBezTo>
                  <a:cubicBezTo>
                    <a:pt x="9038965" y="7466"/>
                    <a:pt x="9040602" y="11418"/>
                    <a:pt x="9040602" y="15539"/>
                  </a:cubicBezTo>
                  <a:lnTo>
                    <a:pt x="9040602" y="5240401"/>
                  </a:lnTo>
                  <a:cubicBezTo>
                    <a:pt x="9040602" y="5244523"/>
                    <a:pt x="9038965" y="5248475"/>
                    <a:pt x="9036051" y="5251390"/>
                  </a:cubicBezTo>
                  <a:cubicBezTo>
                    <a:pt x="9033137" y="5254304"/>
                    <a:pt x="9029185" y="5255941"/>
                    <a:pt x="9025063" y="5255941"/>
                  </a:cubicBezTo>
                  <a:lnTo>
                    <a:pt x="15539" y="5255941"/>
                  </a:lnTo>
                  <a:cubicBezTo>
                    <a:pt x="11418" y="5255941"/>
                    <a:pt x="7466" y="5254304"/>
                    <a:pt x="4551" y="5251390"/>
                  </a:cubicBezTo>
                  <a:cubicBezTo>
                    <a:pt x="1637" y="5248475"/>
                    <a:pt x="0" y="5244523"/>
                    <a:pt x="0" y="5240401"/>
                  </a:cubicBezTo>
                  <a:lnTo>
                    <a:pt x="0" y="15539"/>
                  </a:lnTo>
                  <a:cubicBezTo>
                    <a:pt x="0" y="11418"/>
                    <a:pt x="1637" y="7466"/>
                    <a:pt x="4551" y="4551"/>
                  </a:cubicBezTo>
                  <a:cubicBezTo>
                    <a:pt x="7466" y="1637"/>
                    <a:pt x="11418" y="0"/>
                    <a:pt x="15539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040603" cy="5303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43677" y="4544227"/>
            <a:ext cx="6726138" cy="3843507"/>
          </a:xfrm>
          <a:custGeom>
            <a:avLst/>
            <a:gdLst/>
            <a:ahLst/>
            <a:cxnLst/>
            <a:rect r="r" b="b" t="t" l="l"/>
            <a:pathLst>
              <a:path h="3843507" w="6726138">
                <a:moveTo>
                  <a:pt x="0" y="0"/>
                </a:moveTo>
                <a:lnTo>
                  <a:pt x="6726138" y="0"/>
                </a:lnTo>
                <a:lnTo>
                  <a:pt x="6726138" y="3843507"/>
                </a:lnTo>
                <a:lnTo>
                  <a:pt x="0" y="3843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720632" y="4448029"/>
            <a:ext cx="8883757" cy="3737339"/>
            <a:chOff x="0" y="0"/>
            <a:chExt cx="10672515" cy="44898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72515" cy="4489857"/>
            </a:xfrm>
            <a:custGeom>
              <a:avLst/>
              <a:gdLst/>
              <a:ahLst/>
              <a:cxnLst/>
              <a:rect r="r" b="b" t="t" l="l"/>
              <a:pathLst>
                <a:path h="4489857" w="10672515">
                  <a:moveTo>
                    <a:pt x="13009" y="0"/>
                  </a:moveTo>
                  <a:lnTo>
                    <a:pt x="10659507" y="0"/>
                  </a:lnTo>
                  <a:cubicBezTo>
                    <a:pt x="10662957" y="0"/>
                    <a:pt x="10666265" y="1371"/>
                    <a:pt x="10668705" y="3810"/>
                  </a:cubicBezTo>
                  <a:cubicBezTo>
                    <a:pt x="10671145" y="6250"/>
                    <a:pt x="10672515" y="9558"/>
                    <a:pt x="10672515" y="13009"/>
                  </a:cubicBezTo>
                  <a:lnTo>
                    <a:pt x="10672515" y="4476849"/>
                  </a:lnTo>
                  <a:cubicBezTo>
                    <a:pt x="10672515" y="4480299"/>
                    <a:pt x="10671145" y="4483608"/>
                    <a:pt x="10668705" y="4486047"/>
                  </a:cubicBezTo>
                  <a:cubicBezTo>
                    <a:pt x="10666265" y="4488487"/>
                    <a:pt x="10662957" y="4489857"/>
                    <a:pt x="10659507" y="4489857"/>
                  </a:cubicBezTo>
                  <a:lnTo>
                    <a:pt x="13009" y="4489857"/>
                  </a:lnTo>
                  <a:cubicBezTo>
                    <a:pt x="9558" y="4489857"/>
                    <a:pt x="6250" y="4488487"/>
                    <a:pt x="3810" y="4486047"/>
                  </a:cubicBezTo>
                  <a:cubicBezTo>
                    <a:pt x="1371" y="4483608"/>
                    <a:pt x="0" y="4480299"/>
                    <a:pt x="0" y="4476849"/>
                  </a:cubicBezTo>
                  <a:lnTo>
                    <a:pt x="0" y="13009"/>
                  </a:lnTo>
                  <a:cubicBezTo>
                    <a:pt x="0" y="9558"/>
                    <a:pt x="1371" y="6250"/>
                    <a:pt x="3810" y="3810"/>
                  </a:cubicBezTo>
                  <a:cubicBezTo>
                    <a:pt x="6250" y="1371"/>
                    <a:pt x="9558" y="0"/>
                    <a:pt x="13009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672515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89273" y="4650396"/>
            <a:ext cx="8857236" cy="3737339"/>
            <a:chOff x="0" y="0"/>
            <a:chExt cx="10640654" cy="44898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40654" cy="4489857"/>
            </a:xfrm>
            <a:custGeom>
              <a:avLst/>
              <a:gdLst/>
              <a:ahLst/>
              <a:cxnLst/>
              <a:rect r="r" b="b" t="t" l="l"/>
              <a:pathLst>
                <a:path h="4489857" w="10640654">
                  <a:moveTo>
                    <a:pt x="13047" y="0"/>
                  </a:moveTo>
                  <a:lnTo>
                    <a:pt x="10627607" y="0"/>
                  </a:lnTo>
                  <a:cubicBezTo>
                    <a:pt x="10631067" y="0"/>
                    <a:pt x="10634386" y="1375"/>
                    <a:pt x="10636833" y="3822"/>
                  </a:cubicBezTo>
                  <a:cubicBezTo>
                    <a:pt x="10639280" y="6268"/>
                    <a:pt x="10640654" y="9587"/>
                    <a:pt x="10640654" y="13047"/>
                  </a:cubicBezTo>
                  <a:lnTo>
                    <a:pt x="10640654" y="4476810"/>
                  </a:lnTo>
                  <a:cubicBezTo>
                    <a:pt x="10640654" y="4480270"/>
                    <a:pt x="10639280" y="4483589"/>
                    <a:pt x="10636833" y="4486036"/>
                  </a:cubicBezTo>
                  <a:cubicBezTo>
                    <a:pt x="10634386" y="4488483"/>
                    <a:pt x="10631067" y="4489857"/>
                    <a:pt x="10627607" y="4489857"/>
                  </a:cubicBezTo>
                  <a:lnTo>
                    <a:pt x="13047" y="4489857"/>
                  </a:lnTo>
                  <a:cubicBezTo>
                    <a:pt x="9587" y="4489857"/>
                    <a:pt x="6268" y="4488483"/>
                    <a:pt x="3822" y="4486036"/>
                  </a:cubicBezTo>
                  <a:cubicBezTo>
                    <a:pt x="1375" y="4483589"/>
                    <a:pt x="0" y="4480270"/>
                    <a:pt x="0" y="4476810"/>
                  </a:cubicBezTo>
                  <a:lnTo>
                    <a:pt x="0" y="13047"/>
                  </a:lnTo>
                  <a:cubicBezTo>
                    <a:pt x="0" y="9587"/>
                    <a:pt x="1375" y="6268"/>
                    <a:pt x="3822" y="3822"/>
                  </a:cubicBezTo>
                  <a:cubicBezTo>
                    <a:pt x="6268" y="1375"/>
                    <a:pt x="9587" y="0"/>
                    <a:pt x="13047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640654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260989" y="4795121"/>
            <a:ext cx="8113804" cy="3245522"/>
          </a:xfrm>
          <a:custGeom>
            <a:avLst/>
            <a:gdLst/>
            <a:ahLst/>
            <a:cxnLst/>
            <a:rect r="r" b="b" t="t" l="l"/>
            <a:pathLst>
              <a:path h="3245522" w="8113804">
                <a:moveTo>
                  <a:pt x="0" y="0"/>
                </a:moveTo>
                <a:lnTo>
                  <a:pt x="8113804" y="0"/>
                </a:lnTo>
                <a:lnTo>
                  <a:pt x="8113804" y="3245522"/>
                </a:lnTo>
                <a:lnTo>
                  <a:pt x="0" y="3245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66399" y="494818"/>
            <a:ext cx="670341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Bias &amp; RL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53723" y="2883756"/>
            <a:ext cx="5106099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GPE (0.2011) and ORG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(0.2068) statements harder to classify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75924" y="5766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75924" y="462300"/>
            <a:ext cx="1295747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Ethics, Limitations &amp;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71766"/>
            <a:ext cx="4833608" cy="594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Risks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4536" y="3778885"/>
            <a:ext cx="5262715" cy="408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Risk 1: </a:t>
            </a: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False positives — mitigated by conservative threshold (0.8) and human-in-the-loop design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Risk 2:</a:t>
            </a: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Political bias — confirmed and documented; Republican F1 gap of ~0.04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Risk 3:</a:t>
            </a: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Censorship misuse — restricted to research use only via model license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6206863" y="3013895"/>
            <a:ext cx="0" cy="5678468"/>
          </a:xfrm>
          <a:prstGeom prst="line">
            <a:avLst/>
          </a:prstGeom>
          <a:ln cap="flat" w="9525">
            <a:solidFill>
              <a:srgbClr val="1515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1929265" y="3013895"/>
            <a:ext cx="0" cy="5678468"/>
          </a:xfrm>
          <a:prstGeom prst="line">
            <a:avLst/>
          </a:prstGeom>
          <a:ln cap="flat" w="9525">
            <a:solidFill>
              <a:srgbClr val="1515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6476601" y="2571766"/>
            <a:ext cx="4833608" cy="594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76601" y="3797935"/>
            <a:ext cx="4741854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 political domain only; low absolute F1; bandit uses simulated probs in Week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81895" y="2571766"/>
            <a:ext cx="4833608" cy="594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77856" y="3778885"/>
            <a:ext cx="5041685" cy="593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 preparation pipeline successfully processed 12,836 statements across 3 splits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Descriptive analysis revealed class imbalance, speaker distribution bias, and entity-level disparities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DistilBERT improves over baselines (F1: 0.2602 vs 0.2384 CNN, 0.2214 LR)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Bias confirmed, documented, and transparent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System designed for human oversight — not autonomous deployment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github.com/riancrtz/fake-news-detection-nlp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83146" y="8158480"/>
            <a:ext cx="13521708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Presented by: </a:t>
            </a: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Rian Cortez, Ryence Cortez, Ranz Cuarto, Mark Darius David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552344" y="9547209"/>
            <a:ext cx="718331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LY ANGEL UNIVERSITY —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HO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OL OF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DAHFHcFI-nI</dc:identifier>
  <dcterms:modified xsi:type="dcterms:W3CDTF">2011-08-01T06:04:30Z</dcterms:modified>
  <cp:revision>1</cp:revision>
  <dc:title>INTELSY FINAL PROJECT PPT</dc:title>
</cp:coreProperties>
</file>